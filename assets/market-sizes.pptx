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MOVES — MARKET SIZES — retrieved October 14, 2026</a:t>
            </a:r>
          </a:p>
          <a:p>
            <a:r>
              <a:t>These are latest available snapshots, NOT synchronized closing valuations. Market quotes can be delayed. Physical quantities and bond totals lag; they are not certified October 14 stock counts. No grand total: categories overlap and measure different things.</a:t>
            </a:r>
          </a:p>
          <a:p/>
          <a:p>
            <a:r>
              <a:t>SPY / QQQ mean underlying company capitalization, not fund assets. Slickcharts snapshots: 70.015T and 42.361T. Full capitalization, not index float-adjusted weighting.</a:t>
            </a:r>
          </a:p>
          <a:p>
            <a:r>
              <a:t>https://www.slickcharts.com/sp500/marketcap</a:t>
            </a:r>
          </a:p>
          <a:p>
            <a:r>
              <a:t>https://www.slickcharts.com/nasdaq100/marketcap</a:t>
            </a:r>
          </a:p>
          <a:p/>
          <a:p>
            <a:r>
              <a:t>Crypto snapshot: BTC $1,637,903,743,705; ETH $295,013,000,720; total $2.844T. Circulating supply, not fully diluted value. Retrieved October 14; continuous trading and differing vendor snapshots cause differences.</a:t>
            </a:r>
          </a:p>
          <a:p>
            <a:r>
              <a:t>https://www.coingecko.com/</a:t>
            </a:r>
          </a:p>
          <a:p/>
          <a:p>
            <a:r>
              <a:t>Gold: latest WGC above-ground estimate 222,600 metric tonnes (end-Q2 2026) × 32,150.7465686 troy oz/tonne × current CMC gold price $4,128/oz. Does not project Q3/Q4 production. CMC's own displayed gold capitalization uses older tonnage, so it is NOT used here.</a:t>
            </a:r>
          </a:p>
          <a:p>
            <a:r>
              <a:t>https://www.gold.org/goldhub/data/how-much-gold</a:t>
            </a:r>
          </a:p>
          <a:p>
            <a:r>
              <a:t>https://companiesmarketcap.com/gold/marketcap/</a:t>
            </a:r>
          </a:p>
          <a:p/>
          <a:p>
            <a:r>
              <a:t>Silver: CMC $3.142T. Uses 1,751,000 tonnes historically mined (2019 estimate) × current price about $55.82/oz; includes metal subsequently lost/consumed. Not available investment inventory or a current stock count.</a:t>
            </a:r>
          </a:p>
          <a:p>
            <a:r>
              <a:t>https://companiesmarketcap.com/silver/marketcap/</a:t>
            </a:r>
          </a:p>
          <a:p/>
          <a:p>
            <a:r>
              <a:t>Copper: illustrative historical-output valuation, NOT a recognized market cap. USGS undated FAQ: roughly 700 million tonnes ever produced × October 14 quote $14,788.46/tonne. The quantity is an old, rounded cumulative estimate, not verified current inventory; includes consumed/lost metal. Used for scale only.</a:t>
            </a:r>
          </a:p>
          <a:p>
            <a:r>
              <a:t>https://www.usgs.gov/faqs/how-much-copper-has-been-found-world?page=0</a:t>
            </a:r>
          </a:p>
          <a:p>
            <a:r>
              <a:t>https://metalcharts.org/lme-copper-price</a:t>
            </a:r>
          </a:p>
          <a:p/>
          <a:p>
            <a:r>
              <a:t>Precious metals proxy = gold calculation + silver $3.142T + platinum $0.40170T + palladium (175 million historical ounces × October 14 spot $1,094.50/oz). Excludes rhodium and other minor PGMs, so not an exhaustive all-metals total. Platinum and palladium quantities are 2020 historical-output estimates; consumed/lost material not deducted. Copper is an industrial metal and excluded.</a:t>
            </a:r>
          </a:p>
          <a:p>
            <a:r>
              <a:t>https://companiesmarketcap.com/platinum/marketcap/</a:t>
            </a:r>
          </a:p>
          <a:p>
            <a:r>
              <a:t>https://companiesmarketcap.com/palladium/marketcap/</a:t>
            </a:r>
          </a:p>
          <a:p>
            <a:r>
              <a:t>https://www.reuters.com/world/india/gold-prices-hold-firm-ahead-us-inflation-data-2026-10-14/</a:t>
            </a:r>
          </a:p>
          <a:p/>
          <a:p>
            <a:r>
              <a:t>Bonds: global fixed income debt outstanding $160.7T, end-2025, latest annual SIFMA 2026 Fact Book. Face/outstanding amount, not a same-day mark-to-market valuation.</a:t>
            </a:r>
          </a:p>
          <a:p>
            <a:r>
              <a:t>https://www.sifma.org/research/reports/fact-book</a:t>
            </a:r>
          </a:p>
          <a:p/>
          <a:p>
            <a:r>
              <a:t>Oil: user requested reserve value. 1,572.459 billion barrels, year-end 2025 proven crude reserves from OPEC ASB 2026, × October 14 Brent futures settlement $106.06/bbl. Gross notional value, not net present value: no extraction costs, taxes, discounting, quality adjustments or production/depletion adjustment. Not readily saleable inventory.</a:t>
            </a:r>
          </a:p>
          <a:p>
            <a:r>
              <a:t>https://www.opec.org/pr-detail/1784601-29-april-2026.html</a:t>
            </a:r>
          </a:p>
          <a:p>
            <a:r>
              <a:t>https://baratelliinstitute.com/oil</a:t>
            </a:r>
          </a:p>
          <a:p>
            <a:r>
              <a:t>https://www.reuters.com/business/energy/oil-prices-climb-traders-weigh-saudi-supply-risk-russian-diesel-flow-2026-10-14/</a:t>
            </a:r>
          </a:p>
          <a:p/>
          <a:p>
            <a:r>
              <a:t>Energy alternatives: CMC renewable category, 142 companies, $876.26B. A proxy, not all alternative energy assets; includes diversified businesses, not pure renewable revenue.</a:t>
            </a:r>
          </a:p>
          <a:p>
            <a:r>
              <a:t>https://companiesmarketcap.com/renewable-energy/largest-companies-by-market-cap/</a:t>
            </a:r>
          </a:p>
          <a:p>
            <a:r>
              <a:t>Total energy: CMC energy category, 802 tracked public companies, $13.082T. Not all private/state-owned businesses. Not oil reserve value plus renewables. Overlaps renewable category and equity indexes.</a:t>
            </a:r>
          </a:p>
          <a:p>
            <a:r>
              <a:t>https://companiesmarketcap.com/energy/largest-companies-by-market-cap/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7179"/>
            <a:ext cx="128016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000" b="1">
                <a:solidFill>
                  <a:srgbClr val="F1F5FA"/>
                </a:solidFill>
                <a:latin typeface="Arial"/>
              </a:defRPr>
            </a:pPr>
            <a:r>
              <a:t>MARKET MOVES  /  THE SIZE OF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36675"/>
            <a:ext cx="128016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0">
                <a:solidFill>
                  <a:srgbClr val="9FB1C9"/>
                </a:solidFill>
                <a:latin typeface="Arial"/>
              </a:defRPr>
            </a:pPr>
            <a:r>
              <a:t>October 14, 2026 snapshot • USD trillions • Latest available quotes and reported quantities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53312"/>
            <a:ext cx="13533120" cy="393192"/>
          </a:xfrm>
          <a:prstGeom prst="rect">
            <a:avLst/>
          </a:prstGeom>
          <a:solidFill>
            <a:srgbClr val="20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2748"/>
            <a:ext cx="128016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 b="1">
                <a:solidFill>
                  <a:srgbClr val="68D5EE"/>
                </a:solidFill>
                <a:latin typeface="Arial"/>
              </a:defRPr>
            </a:pPr>
            <a:r>
              <a:t>ASSET /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412748"/>
            <a:ext cx="978408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 b="1">
                <a:solidFill>
                  <a:srgbClr val="68D5EE"/>
                </a:solidFill>
                <a:latin typeface="Arial"/>
              </a:defRPr>
            </a:pPr>
            <a: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2748"/>
            <a:ext cx="786384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00" b="1">
                <a:solidFill>
                  <a:srgbClr val="68D5EE"/>
                </a:solidFill>
                <a:latin typeface="Arial"/>
              </a:defRPr>
            </a:pPr>
            <a:r>
              <a:t>WHAT IS BEING VALUED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78508"/>
            <a:ext cx="13533120" cy="361188"/>
          </a:xfrm>
          <a:prstGeom prst="rect">
            <a:avLst/>
          </a:prstGeom>
          <a:solidFill>
            <a:srgbClr val="12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7652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SPY / S&amp;P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87652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$70.02T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7652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Underlying companies; not ETF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57984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QQQ / Nasdaq-100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57984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$42.36T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57984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Underlying companies; not ETF assets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19172"/>
            <a:ext cx="13533120" cy="361188"/>
          </a:xfrm>
          <a:prstGeom prst="rect">
            <a:avLst/>
          </a:prstGeom>
          <a:solidFill>
            <a:srgbClr val="12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28316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Bitcoin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28316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$1.64T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28316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Circulating-supply market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98648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Ethereum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98648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$0.30T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98648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Circulating-supply market cap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59836"/>
            <a:ext cx="13533120" cy="361188"/>
          </a:xfrm>
          <a:prstGeom prst="rect">
            <a:avLst/>
          </a:prstGeom>
          <a:solidFill>
            <a:srgbClr val="12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68980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Total Crypto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268980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$2.84T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68980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All tracked crypto; includes BTC + ETH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39312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Gold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639312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$29.54T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39312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Above-ground estimate × current price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00500"/>
            <a:ext cx="13533120" cy="361188"/>
          </a:xfrm>
          <a:prstGeom prst="rect">
            <a:avLst/>
          </a:prstGeom>
          <a:solidFill>
            <a:srgbClr val="12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09644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Silver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09644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$3.14T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09644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Historical mined quantity × current price*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379975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Copper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379975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$10.35T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79975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Illustrative: historical output × current price*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41164"/>
            <a:ext cx="13533120" cy="361188"/>
          </a:xfrm>
          <a:prstGeom prst="rect">
            <a:avLst/>
          </a:prstGeom>
          <a:solidFill>
            <a:srgbClr val="12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750308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Total Precious Metals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750308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$33.28T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50308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Gold + silver + platinum + palladium estimate*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120640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Bonds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120640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$160.70T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120640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Global debt outstanding; year-end 2025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481828"/>
            <a:ext cx="13533120" cy="361188"/>
          </a:xfrm>
          <a:prstGeom prst="rect">
            <a:avLst/>
          </a:prstGeom>
          <a:solidFill>
            <a:srgbClr val="12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490972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Oil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490972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$166.78T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490972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Proven reserves × $106.06/bbl Brent; gross**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61304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Energy Alternatives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5861304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$0.88T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861304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Renewable-company market caps; 142 firms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222492"/>
            <a:ext cx="13533120" cy="361188"/>
          </a:xfrm>
          <a:prstGeom prst="rect">
            <a:avLst/>
          </a:prstGeom>
          <a:solidFill>
            <a:srgbClr val="12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231636"/>
            <a:ext cx="3749039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F1F5FA"/>
                </a:solidFill>
                <a:latin typeface="Arial"/>
              </a:defRPr>
            </a:pPr>
            <a:r>
              <a:t>Total Energy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6231636"/>
            <a:ext cx="18288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F6C767"/>
                </a:solidFill>
                <a:latin typeface="Arial"/>
              </a:defRPr>
            </a:pPr>
            <a:r>
              <a:t>$13.08T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6231636"/>
            <a:ext cx="758952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0">
                <a:solidFill>
                  <a:srgbClr val="9FB1C9"/>
                </a:solidFill>
                <a:latin typeface="Arial"/>
              </a:defRPr>
            </a:pPr>
            <a:r>
              <a:t>Tracked energy-company market caps; 802 firms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761988"/>
            <a:ext cx="128016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68D5EE"/>
                </a:solidFill>
                <a:latin typeface="Arial"/>
              </a:defRPr>
            </a:pPr>
            <a:r>
              <a:t>NOT ADDITIVE: indexes, crypto, metals and energy categories overlap; valuation methods differ.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7127748"/>
            <a:ext cx="128016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0">
                <a:solidFill>
                  <a:srgbClr val="9FB1C9"/>
                </a:solidFill>
                <a:latin typeface="Arial"/>
              </a:defRPr>
            </a:pPr>
            <a:r>
              <a:t>* Silver/copper use old cumulative mined estimates, not current investable stocks. Precious metals = Au + Ag + Pt + Pd.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7402067"/>
            <a:ext cx="128016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 b="0">
                <a:solidFill>
                  <a:srgbClr val="9FB1C9"/>
                </a:solidFill>
                <a:latin typeface="Arial"/>
              </a:defRPr>
            </a:pPr>
            <a:r>
              <a:t>** Oil = end-2025 proven reserves × today’s Brent settlement; before costs, taxes and discounting. Bonds: end-2025.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7731252"/>
            <a:ext cx="12801600" cy="40233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0">
                <a:solidFill>
                  <a:srgbClr val="9FB1C9"/>
                </a:solidFill>
                <a:latin typeface="Arial"/>
              </a:defRPr>
            </a:pPr>
            <a:r>
              <a:t>Sources: Slickcharts • CoinGecko • WGC • CompaniesMarketCap (CMC) • USGS • Metalcharts • SIFMA • OPEC • Reuters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